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05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assets/titl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6355080"/>
            <a:ext cx="6949440" cy="502920"/>
          </a:xfrm>
          <a:prstGeom prst="rect">
            <a:avLst/>
          </a:prstGeom>
          <a:solidFill>
            <a:srgbClr val="3A12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58368" y="420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NHN Academy AI Library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58368" y="19202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도서 검색 서비스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58368" y="245059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과정 보고서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58368" y="3182112"/>
            <a:ext cx="4434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저장 · 임베딩 · 캐싱 · 검색 점수 · LLM 실행 방식 개선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58368" y="4160520"/>
            <a:ext cx="777240" cy="329184"/>
          </a:xfrm>
          <a:prstGeom prst="roundRect">
            <a:avLst/>
          </a:prstGeom>
          <a:solidFill>
            <a:srgbClr val="262631"/>
          </a:solidFill>
          <a:ln w="12700">
            <a:solidFill>
              <a:srgbClr val="4444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" y="424281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</a:t>
            </a:r>
            <a:endParaRPr lang="en-US" sz="740" dirty="0"/>
          </a:p>
        </p:txBody>
      </p:sp>
      <p:sp>
        <p:nvSpPr>
          <p:cNvPr id="11" name="Shape 8"/>
          <p:cNvSpPr/>
          <p:nvPr/>
        </p:nvSpPr>
        <p:spPr>
          <a:xfrm>
            <a:off x="1664208" y="4160520"/>
            <a:ext cx="777240" cy="329184"/>
          </a:xfrm>
          <a:prstGeom prst="roundRect">
            <a:avLst/>
          </a:prstGeom>
          <a:solidFill>
            <a:srgbClr val="262631"/>
          </a:solidFill>
          <a:ln w="12700">
            <a:solidFill>
              <a:srgbClr val="4444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664208" y="424281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Vector</a:t>
            </a:r>
            <a:endParaRPr lang="en-US" sz="740" dirty="0"/>
          </a:p>
        </p:txBody>
      </p:sp>
      <p:sp>
        <p:nvSpPr>
          <p:cNvPr id="13" name="Shape 10"/>
          <p:cNvSpPr/>
          <p:nvPr/>
        </p:nvSpPr>
        <p:spPr>
          <a:xfrm>
            <a:off x="2670048" y="4160520"/>
            <a:ext cx="777240" cy="329184"/>
          </a:xfrm>
          <a:prstGeom prst="roundRect">
            <a:avLst/>
          </a:prstGeom>
          <a:solidFill>
            <a:srgbClr val="262631"/>
          </a:solidFill>
          <a:ln w="12700">
            <a:solidFill>
              <a:srgbClr val="4444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2670048" y="424281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Redis</a:t>
            </a:r>
            <a:endParaRPr lang="en-US" sz="740" dirty="0"/>
          </a:p>
        </p:txBody>
      </p:sp>
      <p:sp>
        <p:nvSpPr>
          <p:cNvPr id="15" name="Shape 12"/>
          <p:cNvSpPr/>
          <p:nvPr/>
        </p:nvSpPr>
        <p:spPr>
          <a:xfrm>
            <a:off x="3675888" y="4160520"/>
            <a:ext cx="777240" cy="329184"/>
          </a:xfrm>
          <a:prstGeom prst="roundRect">
            <a:avLst/>
          </a:prstGeom>
          <a:solidFill>
            <a:srgbClr val="5A3CFF"/>
          </a:solidFill>
          <a:ln w="12700">
            <a:solidFill>
              <a:srgbClr val="4444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3675888" y="424281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658368" y="65196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AE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5  | 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5488" y="256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A6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 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전체 구조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75488" y="1261872"/>
            <a:ext cx="7315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도서 CSV 저장부터 사용자 응답까지의 흐름에서 병목과 품질 문제를 하나씩 개선했다.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1984248" y="2203704"/>
            <a:ext cx="164592" cy="0"/>
          </a:xfrm>
          <a:prstGeom prst="line">
            <a:avLst/>
          </a:prstGeom>
          <a:noFill/>
          <a:ln w="13970">
            <a:solidFill>
              <a:srgbClr val="8A6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566160" y="2203704"/>
            <a:ext cx="164592" cy="0"/>
          </a:xfrm>
          <a:prstGeom prst="line">
            <a:avLst/>
          </a:prstGeom>
          <a:noFill/>
          <a:ln w="13970">
            <a:solidFill>
              <a:srgbClr val="8A6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148072" y="2203704"/>
            <a:ext cx="164592" cy="0"/>
          </a:xfrm>
          <a:prstGeom prst="line">
            <a:avLst/>
          </a:prstGeom>
          <a:noFill/>
          <a:ln w="13970">
            <a:solidFill>
              <a:srgbClr val="8A6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729984" y="2203704"/>
            <a:ext cx="164592" cy="0"/>
          </a:xfrm>
          <a:prstGeom prst="line">
            <a:avLst/>
          </a:prstGeom>
          <a:noFill/>
          <a:ln w="13970">
            <a:solidFill>
              <a:srgbClr val="8A6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311896" y="2203704"/>
            <a:ext cx="164592" cy="0"/>
          </a:xfrm>
          <a:prstGeom prst="line">
            <a:avLst/>
          </a:prstGeom>
          <a:noFill/>
          <a:ln w="13970">
            <a:solidFill>
              <a:srgbClr val="8A6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893808" y="2203704"/>
            <a:ext cx="164592" cy="0"/>
          </a:xfrm>
          <a:prstGeom prst="line">
            <a:avLst/>
          </a:prstGeom>
          <a:noFill/>
          <a:ln w="13970">
            <a:solidFill>
              <a:srgbClr val="8A6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1856232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76656" y="1975104"/>
            <a:ext cx="237744" cy="237744"/>
          </a:xfrm>
          <a:prstGeom prst="rect">
            <a:avLst/>
          </a:prstGeom>
          <a:solidFill>
            <a:srgbClr val="6B4D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50976" y="204825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 데이터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148840" y="1856232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258568" y="1975104"/>
            <a:ext cx="237744" cy="237744"/>
          </a:xfrm>
          <a:prstGeom prst="rect">
            <a:avLst/>
          </a:prstGeom>
          <a:solidFill>
            <a:srgbClr val="6B4D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32888" y="204825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저장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730752" y="1856232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840480" y="1975104"/>
            <a:ext cx="237744" cy="237744"/>
          </a:xfrm>
          <a:prstGeom prst="rect">
            <a:avLst/>
          </a:prstGeom>
          <a:solidFill>
            <a:srgbClr val="6B4D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0" y="204825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임베딩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312664" y="1856232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22392" y="1975104"/>
            <a:ext cx="237744" cy="237744"/>
          </a:xfrm>
          <a:prstGeom prst="rect">
            <a:avLst/>
          </a:prstGeom>
          <a:solidFill>
            <a:srgbClr val="6B4D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96712" y="204825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Vector 검색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894576" y="1856232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004304" y="1975104"/>
            <a:ext cx="237744" cy="237744"/>
          </a:xfrm>
          <a:prstGeom prst="rect">
            <a:avLst/>
          </a:prstGeom>
          <a:solidFill>
            <a:srgbClr val="6B4D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78624" y="204825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점수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476488" y="1856232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586216" y="1975104"/>
            <a:ext cx="237744" cy="237744"/>
          </a:xfrm>
          <a:prstGeom prst="rect">
            <a:avLst/>
          </a:prstGeom>
          <a:solidFill>
            <a:srgbClr val="6B4D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860536" y="204825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Semantic Cache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0058400" y="1856232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0168128" y="1975104"/>
            <a:ext cx="237744" cy="237744"/>
          </a:xfrm>
          <a:prstGeom prst="rect">
            <a:avLst/>
          </a:prstGeom>
          <a:solidFill>
            <a:srgbClr val="6B4D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442448" y="204825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응답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58368" y="2971800"/>
            <a:ext cx="306324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841248" y="311810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저장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709928" y="3108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1000건 단위 저장 + 내부망 DB 연결로 처리 시간 단축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4087368" y="2971800"/>
            <a:ext cx="306324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270248" y="311810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Vector 저장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38928" y="3108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hibernate-vector와 @JdbcTypeCode로 임베딩 저장 기반 확보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658368" y="3977640"/>
            <a:ext cx="306324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41248" y="412394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품질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09928" y="4114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similarity / rrf 비율 재조정으로 추천 점수 개선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4087368" y="3977640"/>
            <a:ext cx="306324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270248" y="412394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방식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38928" y="4114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 API 전환으로 LLM 실행 시간 2.44초 수준 개선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8046720" y="2971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8183880" y="30998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15만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8183880" y="34838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도서 CSV 데이터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9829800" y="2971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9966960" y="30998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9A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7~8초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9966960" y="34838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내부망 저장 결과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8046720" y="41605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8183880" y="42885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3C4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2.44초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8183880" y="4672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 API 호출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9829800" y="41605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9966960" y="42885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80~90%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9966960" y="4672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점수 개선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475488" y="6108192"/>
            <a:ext cx="11228832" cy="420624"/>
          </a:xfrm>
          <a:prstGeom prst="roundRect">
            <a:avLst>
              <a:gd name="adj" fmla="val 17391"/>
            </a:avLst>
          </a:prstGeom>
          <a:solidFill>
            <a:srgbClr val="5A3CFF"/>
          </a:solidFill>
          <a:ln w="12700">
            <a:solidFill>
              <a:srgbClr val="E8E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713232" y="62087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IMPROVEMENT MAP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3749040" y="62087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처리 · 검색 기반 · 캐시 전략 · LLM 응답 품질을 단계적으로 개선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5488" y="256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A6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INGESTION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대량 CSV 데이터 저장 방식 개선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75488" y="1261872"/>
            <a:ext cx="7315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15만 건 도서 데이터를 안정적으로 저장하기 위해 처리 단위와 DB 연결 환경을 함께 점검했다.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94360" y="1847088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938528"/>
            <a:ext cx="2148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데이터를 한 번에 메모리에 모아 저장하면 메모리 부담이 크고 실패 지점 추적이 어려웠다.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94360" y="3035808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32369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25880" y="3127248"/>
            <a:ext cx="2148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Spring Batch를 꼭 도입하지 않고, 1000건 단위로 나누어 저장해 재시도 지점을 명확히 했다.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251960" y="1847088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480560" y="2029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4480560" y="22677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로딩 후 저장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542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메모리 부담 | 실패 추적 어려움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251960" y="3127248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480560" y="3310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39A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4480560" y="35478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1000건 단위 저장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3822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단위 커밋 | 재시도 명확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7086600" y="1847088"/>
            <a:ext cx="42976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60920" y="2057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연결 환경 변화에 따른 저장 시간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27889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외부망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01000" y="2761488"/>
            <a:ext cx="2514600" cy="292608"/>
          </a:xfrm>
          <a:prstGeom prst="rect">
            <a:avLst/>
          </a:prstGeom>
          <a:solidFill>
            <a:srgbClr val="6B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652760" y="27706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 100초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60920" y="34564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내부망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01000" y="3429000"/>
            <a:ext cx="192024" cy="292608"/>
          </a:xfrm>
          <a:prstGeom prst="rect">
            <a:avLst/>
          </a:prstGeom>
          <a:solidFill>
            <a:srgbClr val="39A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302752" y="34381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7~8초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60920" y="4041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학습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074152" y="40416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대량 데이터 처리 성능은 코드 구조뿐 아니라 DB 연결 환경과 네트워크에도 영향을 받는다.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75488" y="6108192"/>
            <a:ext cx="11228832" cy="420624"/>
          </a:xfrm>
          <a:prstGeom prst="roundRect">
            <a:avLst>
              <a:gd name="adj" fmla="val 17391"/>
            </a:avLst>
          </a:prstGeom>
          <a:solidFill>
            <a:srgbClr val="5A3CFF"/>
          </a:solidFill>
          <a:ln w="12700">
            <a:solidFill>
              <a:srgbClr val="E8E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13232" y="62087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RESULT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3749040" y="62087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외부망 약 100초 → 내부망 약 7~8초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5488" y="256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A6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VECTOR STORAGE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임베딩 Vector 저장 문제 해결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75488" y="1261872"/>
            <a:ext cx="7315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PostgreSQL vector 타입과 Entity 필드가 Hibernate에서 바로 매핑되지 않아 임베딩 저장이 막혔다.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3154680" y="2468880"/>
            <a:ext cx="731520" cy="0"/>
          </a:xfrm>
          <a:prstGeom prst="line">
            <a:avLst/>
          </a:prstGeom>
          <a:noFill/>
          <a:ln w="17780">
            <a:solidFill>
              <a:srgbClr val="8A6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92240" y="2468880"/>
            <a:ext cx="731520" cy="0"/>
          </a:xfrm>
          <a:prstGeom prst="line">
            <a:avLst/>
          </a:prstGeom>
          <a:noFill/>
          <a:ln w="17780">
            <a:solidFill>
              <a:srgbClr val="8A6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0080" y="1847088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68680" y="2029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359152"/>
            <a:ext cx="2057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vector 타입 매핑 실패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필드와 DB 타입 불일치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977640" y="1847088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206240" y="2029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2359152"/>
            <a:ext cx="2057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hibernate-vector 의존성 추가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@JdbcTypeCode(SqlTypes.VECTOR) 적용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315200" y="1847088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543800" y="20299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C4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43800" y="2359152"/>
            <a:ext cx="20574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임베딩 값을 DB에 저장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Vector 검색 기반 확보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111116"/>
          </a:solidFill>
          <a:ln w="12700">
            <a:solidFill>
              <a:srgbClr val="373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68680" y="3758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6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Entity 매핑 예시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4069080"/>
            <a:ext cx="4480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E9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@JdbcTypeCode(SqlTypes.VECTOR)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9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@Column(columnDefinition = "vector(1024)")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9E9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float[] embedding;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356616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19088" y="3767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7728" y="3749040"/>
            <a:ext cx="34290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임베딩 저장이 해결되면서 “검색어 → 임베딩 → Vector 검색” 구조를 실제 서비스 흐름에 연결할 수 있었다.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75488" y="6108192"/>
            <a:ext cx="11228832" cy="420624"/>
          </a:xfrm>
          <a:prstGeom prst="roundRect">
            <a:avLst>
              <a:gd name="adj" fmla="val 17391"/>
            </a:avLst>
          </a:prstGeom>
          <a:solidFill>
            <a:srgbClr val="5A3CFF"/>
          </a:solidFill>
          <a:ln w="12700">
            <a:solidFill>
              <a:srgbClr val="E8E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13232" y="62087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FOUNDATION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3749040" y="62087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Vector 저장 기반 확보 → 하이브리드 검색과 추천 점수 개선으로 연결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5488" y="256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A6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CACHE STRATEGY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Redis Semantic Cache 적용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75488" y="1261872"/>
            <a:ext cx="7315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@Cacheable은 완전히 같은 검색어만 캐시가 적용되어 비슷한 의미의 검색어는 다시 계산해야 했다.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96112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방식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914400" y="2404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“어린 왕자”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2404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B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@Cacheable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761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동일 키만 HIT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577840" y="2514600"/>
            <a:ext cx="658368" cy="0"/>
          </a:xfrm>
          <a:prstGeom prst="line">
            <a:avLst/>
          </a:prstGeom>
          <a:noFill/>
          <a:ln w="20320">
            <a:solidFill>
              <a:srgbClr val="39A9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46720" y="2514600"/>
            <a:ext cx="658368" cy="0"/>
          </a:xfrm>
          <a:prstGeom prst="line">
            <a:avLst/>
          </a:prstGeom>
          <a:noFill/>
          <a:ln w="20320">
            <a:solidFill>
              <a:srgbClr val="39A9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931920" y="1938528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096512" y="21488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96512" y="25420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Embedding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400800" y="1938528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65392" y="21488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65392" y="25420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벡터 비교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869680" y="1938528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034272" y="21488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유사도 높음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34272" y="25420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재사용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14400" y="3950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효과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81328" y="389534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표현은 다르지만 의미가 비슷한 질문에서도 이전 검색 결과를 재사용할 수 있는 구조를 만들었다.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81328" y="42976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검색어 임베딩을 기존 캐시의 임베딩과 비교하고, 유사도가 높으면 저장된 결과를 반환한다.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75488" y="6108192"/>
            <a:ext cx="11228832" cy="420624"/>
          </a:xfrm>
          <a:prstGeom prst="roundRect">
            <a:avLst>
              <a:gd name="adj" fmla="val 17391"/>
            </a:avLst>
          </a:prstGeom>
          <a:solidFill>
            <a:srgbClr val="5A3CFF"/>
          </a:solidFill>
          <a:ln w="12700">
            <a:solidFill>
              <a:srgbClr val="E8E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13232" y="62087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SEMANTIC HIT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3749040" y="62087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문장 캐시 → 의미 기반 캐시로 확장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5488" y="256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A6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RELEVANCE SCORING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추천 점수 개선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75488" y="1261872"/>
            <a:ext cx="7315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“왕자” 검색 시 “어린 왕자”가 검색되지만 추천 점수가 약 52%로 낮게 표시되는 문제가 있었다.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971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96112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비율 조정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914400" y="24505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similarity 70%   rrf 30%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127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 20%   rrf 80%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69080" y="182880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43400" y="20574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39A9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4343400" y="23957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“어린 왕자” 추천 점수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07408" y="28803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조정 전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5029200" y="27706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52%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06440" y="28803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조정 후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6428232" y="27706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3C4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80~90%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001000" y="182880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275320" y="20574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보정 규칙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8275320" y="2450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 또는 ISBN 완전 일치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75320" y="2852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점수 100% 처리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75320" y="3337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기대와 표시 점수를 맞추기 위한 후처리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914400" y="4343400"/>
            <a:ext cx="10149840" cy="603504"/>
          </a:xfrm>
          <a:prstGeom prst="roundRect">
            <a:avLst>
              <a:gd name="adj" fmla="val 12121"/>
            </a:avLst>
          </a:prstGeom>
          <a:solidFill>
            <a:srgbClr val="111116"/>
          </a:solidFill>
          <a:ln w="12700">
            <a:solidFill>
              <a:srgbClr val="3D3D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188720" y="45537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학습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38528" y="454456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E8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점수는 DB가 반환한 수치를 그대로 보여주기보다, 사용자에게 이해 가능한 추천도로 재해석해야 했다.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" y="6108192"/>
            <a:ext cx="11228832" cy="420624"/>
          </a:xfrm>
          <a:prstGeom prst="roundRect">
            <a:avLst>
              <a:gd name="adj" fmla="val 17391"/>
            </a:avLst>
          </a:prstGeom>
          <a:solidFill>
            <a:srgbClr val="5A3CFF"/>
          </a:solidFill>
          <a:ln w="12700">
            <a:solidFill>
              <a:srgbClr val="E8E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13232" y="62087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QUALITY TUNING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3749040" y="62087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similarity 70 / rrf 30 → similarity 20 / rrf 80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5488" y="256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A6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 SCREEN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서비스 화면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75488" y="1261872"/>
            <a:ext cx="7315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RAG 기반 도서 추천 결과가 사용자 화면에서 어떻게 표시되는지 확인하기 위한 현재 개발 중 화면 예시이다.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79095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mnt/data/RAG_SEARCH.png"/>
          <p:cNvPicPr>
            <a:picLocks noChangeAspect="1"/>
          </p:cNvPicPr>
          <p:nvPr/>
        </p:nvPicPr>
        <p:blipFill>
          <a:blip r:embed="rId3"/>
          <a:srcRect l="762" r="762"/>
          <a:stretch/>
        </p:blipFill>
        <p:spPr>
          <a:xfrm>
            <a:off x="758952" y="1993392"/>
            <a:ext cx="7571232" cy="3840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915400" y="178308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162288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 중 화면 예시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62288" y="23042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추후 UI 변경 가능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8915400" y="2816352"/>
            <a:ext cx="26517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9098280" y="2980944"/>
            <a:ext cx="201168" cy="201168"/>
          </a:xfrm>
          <a:prstGeom prst="rect">
            <a:avLst/>
          </a:prstGeom>
          <a:solidFill>
            <a:srgbClr val="6B4D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9372600" y="2926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검색어 입력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372600" y="31638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키워드/벡터/하이브리드 방식 선택</a:t>
            </a:r>
            <a:endParaRPr lang="en-US" sz="670" dirty="0"/>
          </a:p>
        </p:txBody>
      </p:sp>
      <p:sp>
        <p:nvSpPr>
          <p:cNvPr id="16" name="Shape 13"/>
          <p:cNvSpPr/>
          <p:nvPr/>
        </p:nvSpPr>
        <p:spPr>
          <a:xfrm>
            <a:off x="8915400" y="3712464"/>
            <a:ext cx="26517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098280" y="3877056"/>
            <a:ext cx="201168" cy="201168"/>
          </a:xfrm>
          <a:prstGeom prst="rect">
            <a:avLst/>
          </a:prstGeom>
          <a:solidFill>
            <a:srgbClr val="6B4D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372600" y="3822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도서 추천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9372600" y="40599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 중 AI가 추천한 도서 노출</a:t>
            </a:r>
            <a:endParaRPr lang="en-US" sz="670" dirty="0"/>
          </a:p>
        </p:txBody>
      </p:sp>
      <p:sp>
        <p:nvSpPr>
          <p:cNvPr id="20" name="Shape 17"/>
          <p:cNvSpPr/>
          <p:nvPr/>
        </p:nvSpPr>
        <p:spPr>
          <a:xfrm>
            <a:off x="8915400" y="4608576"/>
            <a:ext cx="26517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9098280" y="4773168"/>
            <a:ext cx="201168" cy="201168"/>
          </a:xfrm>
          <a:prstGeom prst="rect">
            <a:avLst/>
          </a:prstGeom>
          <a:solidFill>
            <a:srgbClr val="6B4D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372600" y="47183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추천도 + 설명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9372600" y="49560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점수와 이유를 함께 제공</a:t>
            </a:r>
            <a:endParaRPr lang="en-US" sz="670" dirty="0"/>
          </a:p>
        </p:txBody>
      </p:sp>
      <p:sp>
        <p:nvSpPr>
          <p:cNvPr id="24" name="Shape 21"/>
          <p:cNvSpPr/>
          <p:nvPr/>
        </p:nvSpPr>
        <p:spPr>
          <a:xfrm>
            <a:off x="475488" y="6108192"/>
            <a:ext cx="11228832" cy="420624"/>
          </a:xfrm>
          <a:prstGeom prst="roundRect">
            <a:avLst>
              <a:gd name="adj" fmla="val 17391"/>
            </a:avLst>
          </a:prstGeom>
          <a:solidFill>
            <a:srgbClr val="5A3CFF"/>
          </a:solidFill>
          <a:ln w="12700">
            <a:solidFill>
              <a:srgbClr val="E8E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13232" y="62087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SCREENSHOT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3749040" y="62087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캡처는 개발 중 화면으로, 실제 최종 UI에 맞춰 이미지 교체 가능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5488" y="256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A6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EXECUTION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모델 및 실행 방식 개선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75488" y="1261872"/>
            <a:ext cx="7315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 Ollama 기반 실행에서는 응답 지연과 답변 품질 한계가 있어 Gemini API 방식으로 변경했다.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731520" y="1901952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87552" y="21488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FF6B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987552" y="2514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 Ollama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qwen 계열 모델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응답 지연 · 품질 한계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977640" y="2651760"/>
            <a:ext cx="1188720" cy="0"/>
          </a:xfrm>
          <a:prstGeom prst="line">
            <a:avLst/>
          </a:prstGeom>
          <a:noFill/>
          <a:ln w="25400">
            <a:solidFill>
              <a:srgbClr val="8A6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394960" y="1901952"/>
            <a:ext cx="3154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50992" y="21488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23C48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AFTER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5650992" y="2514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50992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gemini-3.1-flash-lite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응답 품질 개선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9006840" y="1901952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253728" y="2148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9253728" y="2514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2,440ms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253728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실행 시간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914400" y="4069080"/>
            <a:ext cx="10149840" cy="713232"/>
          </a:xfrm>
          <a:prstGeom prst="roundRect">
            <a:avLst>
              <a:gd name="adj" fmla="val 10256"/>
            </a:avLst>
          </a:prstGeom>
          <a:solidFill>
            <a:srgbClr val="111116"/>
          </a:solidFill>
          <a:ln w="12700">
            <a:solidFill>
              <a:srgbClr val="3D3D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170432" y="42885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A6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학습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20240" y="427024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E8E8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기반 서비스에서는 모델 선택뿐 아니라 API 사용 여부, 실행 방식, 응답 시간, 답변 품질을 함께 비교해야 한다.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" y="6108192"/>
            <a:ext cx="11228832" cy="420624"/>
          </a:xfrm>
          <a:prstGeom prst="roundRect">
            <a:avLst>
              <a:gd name="adj" fmla="val 17391"/>
            </a:avLst>
          </a:prstGeom>
          <a:solidFill>
            <a:srgbClr val="5A3CFF"/>
          </a:solidFill>
          <a:ln w="12700">
            <a:solidFill>
              <a:srgbClr val="E8E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13232" y="62087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RESULT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749040" y="62087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 API 전환 후 실제 로그 기준 LLM 실행 시간 2440ms 수준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75488" y="256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A6C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정리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75488" y="1261872"/>
            <a:ext cx="7315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B9BC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개선 과정의 핵심은 “단순 구현”이 아니라 병목을 발견하고 근거를 가지고 바꾸는 경험이었다.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246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05256" y="19933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처리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801368" y="1975104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1000건 단위 저장과 네트워크 환경 확인으로 대량 저장 안정성·속도 개선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4361688" y="1828800"/>
            <a:ext cx="3246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81144" y="19933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기반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477256" y="1975104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Vector 타입 매핑 문제를 해결해 임베딩 검색 구조 구현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8037576" y="1828800"/>
            <a:ext cx="3246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57032" y="19933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캐싱 전략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153144" y="1975104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Redis Semantic Cache로 완전 동일 검색어 한계를 보완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685800" y="2971800"/>
            <a:ext cx="3246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05256" y="31363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품질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801368" y="3118104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점수 비율 재조정과 완전 일치 100% 처리로 표시 품질 개선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4361688" y="2971800"/>
            <a:ext cx="32461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81144" y="31363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방식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5477256" y="3118104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5D6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 API 전환으로 LLM 응답 속도와 답변 품질 개선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685800" y="461772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60120" y="48554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D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36192" y="48280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19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성능은 DB 저장 방식, 검색 점수 로직, 캐시 전략, LLM 모델 선택과 실행 방식이 함께 맞물릴 때 개선된다.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" y="6108192"/>
            <a:ext cx="11228832" cy="420624"/>
          </a:xfrm>
          <a:prstGeom prst="roundRect">
            <a:avLst>
              <a:gd name="adj" fmla="val 17391"/>
            </a:avLst>
          </a:prstGeom>
          <a:solidFill>
            <a:srgbClr val="5A3CFF"/>
          </a:solidFill>
          <a:ln w="12700">
            <a:solidFill>
              <a:srgbClr val="E8E8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13232" y="62087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3749040" y="62087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서비스 화면과 모델 선택은 추후 최종 구현 결과에 맞춰 계속 업데이트 가능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865</Words>
  <Application>Microsoft Macintosh PowerPoint</Application>
  <PresentationFormat>와이드스크린</PresentationFormat>
  <Paragraphs>194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CJK KR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NHN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도서 검색 서비스 개선 과정 보고서</dc:title>
  <dc:subject>AI Library Team 5 report redesign</dc:subject>
  <dc:creator>OpenAI</dc:creator>
  <cp:lastModifiedBy>재영 정</cp:lastModifiedBy>
  <cp:revision>1</cp:revision>
  <dcterms:created xsi:type="dcterms:W3CDTF">2026-07-02T00:37:46Z</dcterms:created>
  <dcterms:modified xsi:type="dcterms:W3CDTF">2026-07-02T05:09:56Z</dcterms:modified>
</cp:coreProperties>
</file>